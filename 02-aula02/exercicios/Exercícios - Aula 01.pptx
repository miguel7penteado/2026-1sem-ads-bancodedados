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D4EEC-4BFA-92B6-66D1-173C7263F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8898" y="499369"/>
            <a:ext cx="8915399" cy="2262781"/>
          </a:xfrm>
        </p:spPr>
        <p:txBody>
          <a:bodyPr/>
          <a:lstStyle/>
          <a:p>
            <a:r>
              <a:rPr lang="pt-BR" dirty="0"/>
              <a:t>Exercícios - Aula 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ED55CF-BA24-D647-769D-C38B64B6C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0941" y="3015149"/>
            <a:ext cx="8915399" cy="1126283"/>
          </a:xfrm>
        </p:spPr>
        <p:txBody>
          <a:bodyPr/>
          <a:lstStyle/>
          <a:p>
            <a:r>
              <a:rPr lang="pt-BR" dirty="0"/>
              <a:t>Relações de Equivalência</a:t>
            </a:r>
          </a:p>
        </p:txBody>
      </p:sp>
    </p:spTree>
    <p:extLst>
      <p:ext uri="{BB962C8B-B14F-4D97-AF65-F5344CB8AC3E}">
        <p14:creationId xmlns:p14="http://schemas.microsoft.com/office/powerpoint/2010/main" val="114279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4B486-C96B-09D3-27A4-ADE7EBD48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36E3C-F941-C857-FB82-255FA2F81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1805292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“Cadastro de Alunos</a:t>
            </a:r>
            <a:r>
              <a:rPr lang="pt-BR" dirty="0"/>
              <a:t> – Teste de </a:t>
            </a:r>
            <a:r>
              <a:rPr lang="pt-BR" b="1" dirty="0"/>
              <a:t>Relação e Equivalência</a:t>
            </a:r>
            <a:r>
              <a:rPr lang="pt-BR" dirty="0"/>
              <a:t>”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8EBCCAA-BC21-85FC-A4BA-C2C0A34E9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450258"/>
              </p:ext>
            </p:extLst>
          </p:nvPr>
        </p:nvGraphicFramePr>
        <p:xfrm>
          <a:off x="1287092" y="3219409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314980385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4038371645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37207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1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86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Bruno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3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78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Diego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92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Felipe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Gabriela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47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874952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DA13F0F3-674C-FF2F-AC74-B6E5BFE8818D}"/>
              </a:ext>
            </a:extLst>
          </p:cNvPr>
          <p:cNvSpPr txBox="1"/>
          <p:nvPr/>
        </p:nvSpPr>
        <p:spPr>
          <a:xfrm>
            <a:off x="1287093" y="2211354"/>
            <a:ext cx="90861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Tenho uma tabela de alunos. Todos os alunos estão matriculados em um curso.</a:t>
            </a:r>
            <a:br>
              <a:rPr lang="pt-BR" dirty="0"/>
            </a:br>
            <a:r>
              <a:rPr lang="pt-BR" dirty="0"/>
              <a:t>1) Prove nesta tabela que 2 alunos são equivalentes.</a:t>
            </a:r>
          </a:p>
          <a:p>
            <a:r>
              <a:rPr lang="pt-BR" dirty="0"/>
              <a:t>2) Quantas Classes de Equivalência tenho nesta tabela</a:t>
            </a:r>
          </a:p>
        </p:txBody>
      </p:sp>
    </p:spTree>
    <p:extLst>
      <p:ext uri="{BB962C8B-B14F-4D97-AF65-F5344CB8AC3E}">
        <p14:creationId xmlns:p14="http://schemas.microsoft.com/office/powerpoint/2010/main" val="11862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86B7FA-4291-BE06-A5FC-DFE7ABED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22135"/>
          </a:xfrm>
        </p:spPr>
        <p:txBody>
          <a:bodyPr/>
          <a:lstStyle/>
          <a:p>
            <a:r>
              <a:rPr lang="pt-BR" dirty="0"/>
              <a:t>Resolução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6AFCD1-F6EE-B5EF-8A2E-1378AC3B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822135"/>
          </a:xfrm>
        </p:spPr>
        <p:txBody>
          <a:bodyPr/>
          <a:lstStyle/>
          <a:p>
            <a:r>
              <a:rPr lang="pt-BR" b="1" dirty="0"/>
              <a:t>Dois alunos são equivalentes se pertencem ao mesmo curso.</a:t>
            </a:r>
            <a:endParaRPr lang="pt-BR" dirty="0"/>
          </a:p>
          <a:p>
            <a:r>
              <a:rPr lang="pt-BR" b="1" dirty="0"/>
              <a:t>Dois alunos não são equivalentes se pertencem a cursos diferentes.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489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FCEA0C-9F42-0ACA-35B1-7BD020F95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3C74C1-79F0-43E3-A51A-DC69D4B34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EE07FF6A-D5E6-3D19-666B-A82A2601E7C7}"/>
              </a:ext>
            </a:extLst>
          </p:cNvPr>
          <p:cNvGraphicFramePr>
            <a:graphicFrameLocks noGrp="1"/>
          </p:cNvGraphicFramePr>
          <p:nvPr/>
        </p:nvGraphicFramePr>
        <p:xfrm>
          <a:off x="1354310" y="2945232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314980385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4038371645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37207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1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86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Bruno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43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78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Diego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92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Felipe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Gabriela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47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87495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61223700-C398-CDEB-BD46-FBF45ABFB803}"/>
              </a:ext>
            </a:extLst>
          </p:cNvPr>
          <p:cNvSpPr txBox="1"/>
          <p:nvPr/>
        </p:nvSpPr>
        <p:spPr>
          <a:xfrm>
            <a:off x="1679510" y="1763486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Tomarei como exemplo: </a:t>
            </a:r>
            <a:r>
              <a:rPr lang="pt-BR" b="1"/>
              <a:t>Ana, Bruno e Carla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263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E834CF-CC2D-88DB-F7FC-A6A423FBD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301BF5-587C-61AC-2B71-DF3AA2EC1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4FE914B-B50D-5EEB-E5E9-CC8C36641F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49399"/>
              </p:ext>
            </p:extLst>
          </p:nvPr>
        </p:nvGraphicFramePr>
        <p:xfrm>
          <a:off x="1354310" y="2945232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314980385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4038371645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37207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1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86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Bruno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78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Diego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92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Felipe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Gabriela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47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87495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9EADCFC5-94DC-848E-0165-F23DDB83381D}"/>
              </a:ext>
            </a:extLst>
          </p:cNvPr>
          <p:cNvSpPr txBox="1"/>
          <p:nvPr/>
        </p:nvSpPr>
        <p:spPr>
          <a:xfrm>
            <a:off x="1679510" y="1763486"/>
            <a:ext cx="8522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Reflexiva</a:t>
            </a:r>
          </a:p>
          <a:p>
            <a:r>
              <a:rPr lang="pt-BR" b="1" dirty="0"/>
              <a:t>Ana</a:t>
            </a:r>
            <a:r>
              <a:rPr lang="pt-BR" dirty="0"/>
              <a:t> é do mesmo curso que </a:t>
            </a:r>
            <a:r>
              <a:rPr lang="pt-BR" b="1" dirty="0"/>
              <a:t>Ana</a:t>
            </a:r>
            <a:r>
              <a:rPr lang="pt-BR" dirty="0"/>
              <a:t>? Sim – OK</a:t>
            </a:r>
          </a:p>
        </p:txBody>
      </p:sp>
    </p:spTree>
    <p:extLst>
      <p:ext uri="{BB962C8B-B14F-4D97-AF65-F5344CB8AC3E}">
        <p14:creationId xmlns:p14="http://schemas.microsoft.com/office/powerpoint/2010/main" val="77696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7A5D660-5AE9-0920-4F64-F919FD75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BCE448-864B-2BA9-06C1-CF8096FCF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9F4728E-F305-325B-4B64-3AFA0E964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12372"/>
              </p:ext>
            </p:extLst>
          </p:nvPr>
        </p:nvGraphicFramePr>
        <p:xfrm>
          <a:off x="1354310" y="2945232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314980385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4038371645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37207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1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86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Bruno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78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Diego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92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Felipe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Gabriela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47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87495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26C43842-7410-120F-E969-D01C660C3950}"/>
              </a:ext>
            </a:extLst>
          </p:cNvPr>
          <p:cNvSpPr txBox="1"/>
          <p:nvPr/>
        </p:nvSpPr>
        <p:spPr>
          <a:xfrm>
            <a:off x="1679510" y="1763486"/>
            <a:ext cx="8522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Simétrica</a:t>
            </a:r>
          </a:p>
          <a:p>
            <a:r>
              <a:rPr lang="pt-BR" b="1" dirty="0"/>
              <a:t>Ana</a:t>
            </a:r>
            <a:r>
              <a:rPr lang="pt-BR" dirty="0"/>
              <a:t> é do mesmo curso que </a:t>
            </a:r>
            <a:r>
              <a:rPr lang="pt-BR" b="1" dirty="0"/>
              <a:t>Bruno</a:t>
            </a:r>
            <a:r>
              <a:rPr lang="pt-BR" dirty="0"/>
              <a:t>? Sim.</a:t>
            </a:r>
            <a:br>
              <a:rPr lang="pt-BR" dirty="0"/>
            </a:br>
            <a:r>
              <a:rPr lang="pt-BR" b="1" dirty="0"/>
              <a:t>Bruno</a:t>
            </a:r>
            <a:r>
              <a:rPr lang="pt-BR" dirty="0"/>
              <a:t> é do mesmo curso que </a:t>
            </a:r>
            <a:r>
              <a:rPr lang="pt-BR" b="1" dirty="0"/>
              <a:t>Ana</a:t>
            </a:r>
            <a:r>
              <a:rPr lang="pt-BR" dirty="0"/>
              <a:t>? Sim – OK</a:t>
            </a:r>
          </a:p>
        </p:txBody>
      </p:sp>
    </p:spTree>
    <p:extLst>
      <p:ext uri="{BB962C8B-B14F-4D97-AF65-F5344CB8AC3E}">
        <p14:creationId xmlns:p14="http://schemas.microsoft.com/office/powerpoint/2010/main" val="3770718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ACFF9B1-4446-2DA1-2000-5C743646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D38F8-DC83-ACD8-6A33-59DB055A1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6EA58ED-CCE1-4277-4F2B-4BB3D1CA4AFD}"/>
              </a:ext>
            </a:extLst>
          </p:cNvPr>
          <p:cNvGraphicFramePr>
            <a:graphicFrameLocks noGrp="1"/>
          </p:cNvGraphicFramePr>
          <p:nvPr/>
        </p:nvGraphicFramePr>
        <p:xfrm>
          <a:off x="1354310" y="2945232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3149803857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4038371645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372071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19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586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Bruno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9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78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Diego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094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Elisa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926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Felipe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2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Gabriela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7472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87495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FCE42C41-F031-5700-19C2-46D6EF8E368E}"/>
              </a:ext>
            </a:extLst>
          </p:cNvPr>
          <p:cNvSpPr txBox="1"/>
          <p:nvPr/>
        </p:nvSpPr>
        <p:spPr>
          <a:xfrm>
            <a:off x="1679510" y="1576912"/>
            <a:ext cx="85229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Transitiva</a:t>
            </a:r>
          </a:p>
          <a:p>
            <a:r>
              <a:rPr lang="pt-BR" b="1" dirty="0"/>
              <a:t>Ana</a:t>
            </a:r>
            <a:r>
              <a:rPr lang="pt-BR" dirty="0"/>
              <a:t> é do mesmo curso que </a:t>
            </a:r>
            <a:r>
              <a:rPr lang="pt-BR" b="1" dirty="0"/>
              <a:t>Bruno</a:t>
            </a:r>
            <a:r>
              <a:rPr lang="pt-BR" dirty="0"/>
              <a:t>.</a:t>
            </a:r>
            <a:br>
              <a:rPr lang="pt-BR" dirty="0"/>
            </a:br>
            <a:r>
              <a:rPr lang="pt-BR" b="1" dirty="0"/>
              <a:t>Bruno</a:t>
            </a:r>
            <a:r>
              <a:rPr lang="pt-BR" dirty="0"/>
              <a:t> é do mesmo curso que </a:t>
            </a:r>
            <a:r>
              <a:rPr lang="pt-BR" b="1" dirty="0"/>
              <a:t>Carla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Logo, </a:t>
            </a:r>
            <a:r>
              <a:rPr lang="pt-BR" b="1" dirty="0"/>
              <a:t>Ana</a:t>
            </a:r>
            <a:r>
              <a:rPr lang="pt-BR" dirty="0"/>
              <a:t> é do mesmo curso que </a:t>
            </a:r>
            <a:r>
              <a:rPr lang="pt-BR" b="1" dirty="0"/>
              <a:t>Carla</a:t>
            </a:r>
            <a:r>
              <a:rPr lang="pt-BR" dirty="0"/>
              <a:t>? Sim – OK</a:t>
            </a:r>
          </a:p>
        </p:txBody>
      </p:sp>
    </p:spTree>
    <p:extLst>
      <p:ext uri="{BB962C8B-B14F-4D97-AF65-F5344CB8AC3E}">
        <p14:creationId xmlns:p14="http://schemas.microsoft.com/office/powerpoint/2010/main" val="785656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E4DA8C-979E-6CA1-4485-AC932DE8A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D23EF-C834-08DD-C528-0C2173B09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C1ABE7-4AE3-28EF-CED1-E3B97FDCF05C}"/>
              </a:ext>
            </a:extLst>
          </p:cNvPr>
          <p:cNvSpPr txBox="1"/>
          <p:nvPr/>
        </p:nvSpPr>
        <p:spPr>
          <a:xfrm>
            <a:off x="1483301" y="2528634"/>
            <a:ext cx="8522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1) Resposta: Portanto, </a:t>
            </a:r>
            <a:r>
              <a:rPr lang="pt-BR" b="1" dirty="0"/>
              <a:t>Ana, Bruno e Carla formam uma classe de equivalência (ADS)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616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E6BE58-57A6-B4EE-6DCF-5FB12876C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944D6-0798-B659-B600-C28549872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7093" y="480709"/>
            <a:ext cx="8915399" cy="928213"/>
          </a:xfrm>
        </p:spPr>
        <p:txBody>
          <a:bodyPr>
            <a:normAutofit/>
          </a:bodyPr>
          <a:lstStyle/>
          <a:p>
            <a:r>
              <a:rPr lang="pt-BR" dirty="0"/>
              <a:t>Resolução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E31DE3-03BD-2CDB-BC63-083FA68FA1F8}"/>
              </a:ext>
            </a:extLst>
          </p:cNvPr>
          <p:cNvSpPr txBox="1"/>
          <p:nvPr/>
        </p:nvSpPr>
        <p:spPr>
          <a:xfrm>
            <a:off x="1679510" y="1576912"/>
            <a:ext cx="852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2) Resolução: Quantas Classes de Equivalência tenho na tabela ?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FA09249-DE53-731C-CBDF-8C36150B6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358167"/>
              </p:ext>
            </p:extLst>
          </p:nvPr>
        </p:nvGraphicFramePr>
        <p:xfrm>
          <a:off x="1679510" y="2217575"/>
          <a:ext cx="8915400" cy="3291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04914">
                  <a:extLst>
                    <a:ext uri="{9D8B030D-6E8A-4147-A177-3AD203B41FA5}">
                      <a16:colId xmlns:a16="http://schemas.microsoft.com/office/drawing/2014/main" val="2426803232"/>
                    </a:ext>
                  </a:extLst>
                </a:gridCol>
                <a:gridCol w="2388637">
                  <a:extLst>
                    <a:ext uri="{9D8B030D-6E8A-4147-A177-3AD203B41FA5}">
                      <a16:colId xmlns:a16="http://schemas.microsoft.com/office/drawing/2014/main" val="2383454556"/>
                    </a:ext>
                  </a:extLst>
                </a:gridCol>
                <a:gridCol w="5221849">
                  <a:extLst>
                    <a:ext uri="{9D8B030D-6E8A-4147-A177-3AD203B41FA5}">
                      <a16:colId xmlns:a16="http://schemas.microsoft.com/office/drawing/2014/main" val="1777091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 do Aluno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CursoID (Classe)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051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Ana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305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Bruno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42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Carla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 (ADS)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41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Diego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809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Elisa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 (Direito)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8324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Felipe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80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Gabriela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99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Hugo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 (Engenharia)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3013450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49EC9325-E4A5-A7A3-EF03-F1EB56232E32}"/>
              </a:ext>
            </a:extLst>
          </p:cNvPr>
          <p:cNvSpPr txBox="1"/>
          <p:nvPr/>
        </p:nvSpPr>
        <p:spPr>
          <a:xfrm>
            <a:off x="1537218" y="5730960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2) Resposta: 3 classes de equivalência</a:t>
            </a:r>
          </a:p>
        </p:txBody>
      </p:sp>
    </p:spTree>
    <p:extLst>
      <p:ext uri="{BB962C8B-B14F-4D97-AF65-F5344CB8AC3E}">
        <p14:creationId xmlns:p14="http://schemas.microsoft.com/office/powerpoint/2010/main" val="248060792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</TotalTime>
  <Words>533</Words>
  <Application>Microsoft Office PowerPoint</Application>
  <PresentationFormat>Widescreen</PresentationFormat>
  <Paragraphs>186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Cacho</vt:lpstr>
      <vt:lpstr>Exercícios - Aula 01</vt:lpstr>
      <vt:lpstr>“Cadastro de Alunos – Teste de Relação e Equivalência”</vt:lpstr>
      <vt:lpstr>Resolução</vt:lpstr>
      <vt:lpstr>Resolução</vt:lpstr>
      <vt:lpstr>Resolução</vt:lpstr>
      <vt:lpstr>Resolução</vt:lpstr>
      <vt:lpstr>Resolução</vt:lpstr>
      <vt:lpstr>Resolução</vt:lpstr>
      <vt:lpstr>Resolução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PENTEADO</dc:creator>
  <cp:lastModifiedBy>MIGUEL PENTEADO</cp:lastModifiedBy>
  <cp:revision>1</cp:revision>
  <dcterms:created xsi:type="dcterms:W3CDTF">2026-02-24T19:30:41Z</dcterms:created>
  <dcterms:modified xsi:type="dcterms:W3CDTF">2026-02-24T19:48:08Z</dcterms:modified>
</cp:coreProperties>
</file>